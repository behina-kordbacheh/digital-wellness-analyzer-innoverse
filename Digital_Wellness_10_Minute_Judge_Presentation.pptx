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ROC-AUC</c:v>
                </c:pt>
                <c:pt idx="1">
                  <c:v>Average Precision</c:v>
                </c:pt>
                <c:pt idx="2">
                  <c:v>Balanced Accuracy</c:v>
                </c:pt>
                <c:pt idx="3">
                  <c:v>Macro 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0.9889</c:v>
                </c:pt>
                <c:pt idx="1">
                  <c:v>0.9956</c:v>
                </c:pt>
                <c:pt idx="2">
                  <c:v>0.9554</c:v>
                </c:pt>
                <c:pt idx="3">
                  <c:v>0.9287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5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31520"/>
            <a:ext cx="7178040" cy="5029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4400" b="1">
                <a:solidFill>
                  <a:srgbClr val="F6FBFF"/>
                </a:solidFill>
              </a:defRPr>
            </a:pPr>
            <a:r>
              <a:t>Digital Wellness Analyzer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7040880" cy="8229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000" b="0">
                <a:solidFill>
                  <a:srgbClr val="ADBFCF"/>
                </a:solidFill>
              </a:defRPr>
            </a:pPr>
            <a:r>
              <a:t>Explainable AI that turns screen-time behavior into healthier daily choices.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46720" y="777240"/>
            <a:ext cx="3154680" cy="443484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2000" b="1">
                <a:solidFill>
                  <a:srgbClr val="62E5C4"/>
                </a:solidFill>
              </a:defRPr>
            </a:pPr>
            <a:r>
              <a:t>✦  Core promise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700">
                <a:solidFill>
                  <a:srgbClr val="ADBFCF"/>
                </a:solidFill>
              </a:defRPr>
            </a:pPr>
            <a:r>
              <a:t>Detect the habit. Explain the reason. Recommend the next better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2286000" cy="114300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700" b="1">
                <a:solidFill>
                  <a:srgbClr val="7DA8FF"/>
                </a:solidFill>
              </a:defRPr>
            </a:pPr>
            <a:r>
              <a:t>🧠  ML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200">
                <a:solidFill>
                  <a:srgbClr val="ADBFCF"/>
                </a:solidFill>
              </a:defRPr>
            </a:pPr>
            <a:r>
              <a:t>Classifier + Regressor + Clustering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926080"/>
            <a:ext cx="2286000" cy="114300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700" b="1">
                <a:solidFill>
                  <a:srgbClr val="62E5C4"/>
                </a:solidFill>
              </a:defRPr>
            </a:pPr>
            <a:r>
              <a:t>🔎  Explain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200">
                <a:solidFill>
                  <a:srgbClr val="ADBFCF"/>
                </a:solidFill>
              </a:defRPr>
            </a:pPr>
            <a:r>
              <a:t>SHAP + percentiles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2926080"/>
            <a:ext cx="2286000" cy="114300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700" b="1">
                <a:solidFill>
                  <a:srgbClr val="FFC273"/>
                </a:solidFill>
              </a:defRPr>
            </a:pPr>
            <a:r>
              <a:t>✅  Act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200">
                <a:solidFill>
                  <a:srgbClr val="ADBFCF"/>
                </a:solidFill>
              </a:defRPr>
            </a:pPr>
            <a:r>
              <a:t>Weekly plan + daily mood check-in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758DA4"/>
                </a:solidFill>
              </a:defRPr>
            </a:pPr>
            <a:r>
              <a:t>Digital Wellness Analyzer • 10-minute judge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92811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800" b="1">
                <a:solidFill>
                  <a:srgbClr val="F6FBFF"/>
                </a:solidFill>
              </a:defRPr>
            </a:pPr>
            <a:r>
              <a:t>1. Problem &amp;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692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00" b="0">
                <a:solidFill>
                  <a:srgbClr val="ADBFCF"/>
                </a:solidFill>
              </a:defRPr>
            </a:pPr>
            <a:r>
              <a:t>Why “use your phone less” is not enough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84048"/>
            <a:ext cx="1097280" cy="329184"/>
          </a:xfrm>
          <a:prstGeom prst="roundRect">
            <a:avLst/>
          </a:prstGeom>
          <a:solidFill>
            <a:srgbClr val="122940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2E5C4"/>
                </a:solidFill>
              </a:defRPr>
            </a:pPr>
            <a:r>
              <a:t>0:45–1:45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16152"/>
            <a:ext cx="10972800" cy="13716"/>
          </a:xfrm>
          <a:prstGeom prst="rect">
            <a:avLst/>
          </a:prstGeom>
          <a:solidFill>
            <a:srgbClr val="32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83280" cy="182880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700" b="1">
                <a:solidFill>
                  <a:srgbClr val="7DA8FF"/>
                </a:solidFill>
              </a:defRPr>
            </a:pPr>
            <a:r>
              <a:t>01  Screen time alone is shallow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200">
                <a:solidFill>
                  <a:srgbClr val="ADBFCF"/>
                </a:solidFill>
              </a:defRPr>
            </a:pPr>
            <a:r>
              <a:t>Work, study, social media, gaming, sleep, notifications and app switching have different meanings.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508760"/>
            <a:ext cx="3383280" cy="182880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700" b="1">
                <a:solidFill>
                  <a:srgbClr val="62E5C4"/>
                </a:solidFill>
              </a:defRPr>
            </a:pPr>
            <a:r>
              <a:t>02  Generic advice fails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200">
                <a:solidFill>
                  <a:srgbClr val="ADBFCF"/>
                </a:solidFill>
              </a:defRPr>
            </a:pPr>
            <a:r>
              <a:t>A student, programmer and healthcare worker need different replacement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508760"/>
            <a:ext cx="3383280" cy="182880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700" b="1">
                <a:solidFill>
                  <a:srgbClr val="FFC273"/>
                </a:solidFill>
              </a:defRPr>
            </a:pPr>
            <a:r>
              <a:t>03  Trust needs explanation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200">
                <a:solidFill>
                  <a:srgbClr val="ADBFCF"/>
                </a:solidFill>
              </a:defRPr>
            </a:pPr>
            <a:r>
              <a:t>A risk score must show which behaviors actually influenced the prediction.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206240"/>
            <a:ext cx="10149840" cy="96012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800" b="1">
                <a:solidFill>
                  <a:srgbClr val="62E5C4"/>
                </a:solidFill>
              </a:defRPr>
            </a:pPr>
            <a:r>
              <a:t>🏆  Opportunity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500">
                <a:solidFill>
                  <a:srgbClr val="ADBFCF"/>
                </a:solidFill>
              </a:defRPr>
            </a:pPr>
            <a:r>
              <a:t>Build a digital wellness coach that combines machine learning with practical daily behavior planning.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758DA4"/>
                </a:solidFill>
              </a:defRPr>
            </a:pPr>
            <a:r>
              <a:t>Digital Wellness Analyzer • 10-minute judge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92811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800" b="1">
                <a:solidFill>
                  <a:srgbClr val="F6FBFF"/>
                </a:solidFill>
              </a:defRPr>
            </a:pPr>
            <a:r>
              <a:t>2. 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692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00" b="0">
                <a:solidFill>
                  <a:srgbClr val="ADBFCF"/>
                </a:solidFill>
              </a:defRPr>
            </a:pPr>
            <a:r>
              <a:t>From raw habits to a personalized action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84048"/>
            <a:ext cx="1097280" cy="329184"/>
          </a:xfrm>
          <a:prstGeom prst="roundRect">
            <a:avLst/>
          </a:prstGeom>
          <a:solidFill>
            <a:srgbClr val="122940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2E5C4"/>
                </a:solidFill>
              </a:defRPr>
            </a:pPr>
            <a:r>
              <a:t>1:45–2:45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16152"/>
            <a:ext cx="10972800" cy="13716"/>
          </a:xfrm>
          <a:prstGeom prst="rect">
            <a:avLst/>
          </a:prstGeom>
          <a:solidFill>
            <a:srgbClr val="32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514600" cy="1874519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600" b="1">
                <a:solidFill>
                  <a:srgbClr val="7DA8FF"/>
                </a:solidFill>
              </a:defRPr>
            </a:pPr>
            <a:r>
              <a:t>1. Input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300">
                <a:solidFill>
                  <a:srgbClr val="ADBFCF"/>
                </a:solidFill>
              </a:defRPr>
            </a:pPr>
            <a:r>
              <a:t>Screen habits + lifestyle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600200"/>
            <a:ext cx="2514600" cy="1874519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600" b="1">
                <a:solidFill>
                  <a:srgbClr val="62E5C4"/>
                </a:solidFill>
              </a:defRPr>
            </a:pPr>
            <a:r>
              <a:t>2. AI analysis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300">
                <a:solidFill>
                  <a:srgbClr val="ADBFCF"/>
                </a:solidFill>
              </a:defRPr>
            </a:pPr>
            <a:r>
              <a:t>Risk class, forecast, cluster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600200"/>
            <a:ext cx="2514600" cy="1874519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600" b="1">
                <a:solidFill>
                  <a:srgbClr val="FFC273"/>
                </a:solidFill>
              </a:defRPr>
            </a:pPr>
            <a:r>
              <a:t>3. Explainability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300">
                <a:solidFill>
                  <a:srgbClr val="ADBFCF"/>
                </a:solidFill>
              </a:defRPr>
            </a:pPr>
            <a:r>
              <a:t>SHAP factors + percentiles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600200"/>
            <a:ext cx="2514600" cy="1874519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600" b="1">
                <a:solidFill>
                  <a:srgbClr val="62E5C4"/>
                </a:solidFill>
              </a:defRPr>
            </a:pPr>
            <a:r>
              <a:t>4. Action plan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300">
                <a:solidFill>
                  <a:srgbClr val="ADBFCF"/>
                </a:solidFill>
              </a:defRPr>
            </a:pPr>
            <a:r>
              <a:t>Replacement activities + weekly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251960"/>
            <a:ext cx="10058400" cy="96012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800" b="1">
                <a:solidFill>
                  <a:srgbClr val="7DA8FF"/>
                </a:solidFill>
              </a:defRPr>
            </a:pPr>
            <a:r>
              <a:t>💬  Judge message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500">
                <a:solidFill>
                  <a:srgbClr val="ADBFCF"/>
                </a:solidFill>
              </a:defRPr>
            </a:pPr>
            <a:r>
              <a:t>The product does not only classify users. It converts explainable predictions into realistic, personalized wellness 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758DA4"/>
                </a:solidFill>
              </a:defRPr>
            </a:pPr>
            <a:r>
              <a:t>Digital Wellness Analyzer • 10-minute judge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92811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800" b="1">
                <a:solidFill>
                  <a:srgbClr val="F6FBFF"/>
                </a:solidFill>
              </a:defRPr>
            </a:pPr>
            <a:r>
              <a:t>3. Data &amp; ethical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692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00" b="0">
                <a:solidFill>
                  <a:srgbClr val="ADBFCF"/>
                </a:solidFill>
              </a:defRPr>
            </a:pPr>
            <a:r>
              <a:t>Feature choices are designed to avoid fake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84048"/>
            <a:ext cx="1097280" cy="329184"/>
          </a:xfrm>
          <a:prstGeom prst="roundRect">
            <a:avLst/>
          </a:prstGeom>
          <a:solidFill>
            <a:srgbClr val="122940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2E5C4"/>
                </a:solidFill>
              </a:defRPr>
            </a:pPr>
            <a:r>
              <a:t>2:45–3:45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16152"/>
            <a:ext cx="10972800" cy="13716"/>
          </a:xfrm>
          <a:prstGeom prst="rect">
            <a:avLst/>
          </a:prstGeom>
          <a:solidFill>
            <a:srgbClr val="32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361188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defRPr sz="1700" b="1">
                <a:solidFill>
                  <a:srgbClr val="7DA8FF"/>
                </a:solidFill>
              </a:defRPr>
            </a:pPr>
            <a:r>
              <a:t>✅  Used by the classifier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Age, gender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Daily screen time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Social media and gaming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Sleep, notifications, app opens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Weekend screen time, stress, work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429000" cy="361188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defRPr sz="1700" b="1">
                <a:solidFill>
                  <a:srgbClr val="FF7F96"/>
                </a:solidFill>
              </a:defRPr>
            </a:pPr>
            <a:r>
              <a:t>🚫  Excluded from classifier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User ID and transaction ID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Addiction level because it leaks the target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Occupation and mood because they are not in the training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17320"/>
            <a:ext cx="3429000" cy="361188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defRPr sz="1700" b="1">
                <a:solidFill>
                  <a:srgbClr val="62E5C4"/>
                </a:solidFill>
              </a:defRPr>
            </a:pPr>
            <a:r>
              <a:t>✨  Used after prediction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Occupation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Available time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Exercise plan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Mood journal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Weekly plan preferences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758DA4"/>
                </a:solidFill>
              </a:defRPr>
            </a:pPr>
            <a:r>
              <a:t>Digital Wellness Analyzer • 10-minute judge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92811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800" b="1">
                <a:solidFill>
                  <a:srgbClr val="F6FBFF"/>
                </a:solidFill>
              </a:defRPr>
            </a:pPr>
            <a:r>
              <a:t>4. Machine-learning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692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00" b="0">
                <a:solidFill>
                  <a:srgbClr val="ADBFCF"/>
                </a:solidFill>
              </a:defRPr>
            </a:pPr>
            <a:r>
              <a:t>Multiple models, one user-facing wellness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84048"/>
            <a:ext cx="1097280" cy="329184"/>
          </a:xfrm>
          <a:prstGeom prst="roundRect">
            <a:avLst/>
          </a:prstGeom>
          <a:solidFill>
            <a:srgbClr val="122940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2E5C4"/>
                </a:solidFill>
              </a:defRPr>
            </a:pPr>
            <a:r>
              <a:t>3:45–5:00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16152"/>
            <a:ext cx="10972800" cy="13716"/>
          </a:xfrm>
          <a:prstGeom prst="rect">
            <a:avLst/>
          </a:prstGeom>
          <a:solidFill>
            <a:srgbClr val="32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10241280" cy="658368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400" b="1">
                <a:solidFill>
                  <a:srgbClr val="7DA8FF"/>
                </a:solidFill>
              </a:defRPr>
            </a:pPr>
            <a:r>
              <a:t>1. Random Forest Classifier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050">
                <a:solidFill>
                  <a:srgbClr val="ADBFCF"/>
                </a:solidFill>
              </a:defRPr>
            </a:pPr>
            <a:r>
              <a:t>Lower-risk vs higher-risk digital usage pattern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67712"/>
            <a:ext cx="10241280" cy="658368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400" b="1">
                <a:solidFill>
                  <a:srgbClr val="62E5C4"/>
                </a:solidFill>
              </a:defRPr>
            </a:pPr>
            <a:r>
              <a:t>2. Isotonic Calibration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050">
                <a:solidFill>
                  <a:srgbClr val="ADBFCF"/>
                </a:solidFill>
              </a:defRPr>
            </a:pPr>
            <a:r>
              <a:t>Model risk score displayed to 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18104"/>
            <a:ext cx="10241280" cy="658368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400" b="1">
                <a:solidFill>
                  <a:srgbClr val="FFC273"/>
                </a:solidFill>
              </a:defRPr>
            </a:pPr>
            <a:r>
              <a:t>3. Random Forest Regressor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050">
                <a:solidFill>
                  <a:srgbClr val="ADBFCF"/>
                </a:solidFill>
              </a:defRPr>
            </a:pPr>
            <a:r>
              <a:t>Weekend screen-time forecast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68496"/>
            <a:ext cx="10241280" cy="658368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400" b="1">
                <a:solidFill>
                  <a:srgbClr val="7DA8FF"/>
                </a:solidFill>
              </a:defRPr>
            </a:pPr>
            <a:r>
              <a:t>4. K-Means Clustering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050">
                <a:solidFill>
                  <a:srgbClr val="ADBFCF"/>
                </a:solidFill>
              </a:defRPr>
            </a:pPr>
            <a:r>
              <a:t>Behavior segment / user persona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818888"/>
            <a:ext cx="10241280" cy="658368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400" b="1">
                <a:solidFill>
                  <a:srgbClr val="62E5C4"/>
                </a:solidFill>
              </a:defRPr>
            </a:pPr>
            <a:r>
              <a:t>5. SHAP Explainer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050">
                <a:solidFill>
                  <a:srgbClr val="ADBFCF"/>
                </a:solidFill>
              </a:defRPr>
            </a:pPr>
            <a:r>
              <a:t>Shows top factors behind individual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758DA4"/>
                </a:solidFill>
              </a:defRPr>
            </a:pPr>
            <a:r>
              <a:t>Digital Wellness Analyzer • 10-minute judge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92811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800" b="1">
                <a:solidFill>
                  <a:srgbClr val="F6FBFF"/>
                </a:solidFill>
              </a:defRPr>
            </a:pPr>
            <a:r>
              <a:t>5. Final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692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00" b="0">
                <a:solidFill>
                  <a:srgbClr val="ADBFCF"/>
                </a:solidFill>
              </a:defRPr>
            </a:pPr>
            <a:r>
              <a:t>Judge-safe, out-of-fold model reporting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84048"/>
            <a:ext cx="1097280" cy="329184"/>
          </a:xfrm>
          <a:prstGeom prst="roundRect">
            <a:avLst/>
          </a:prstGeom>
          <a:solidFill>
            <a:srgbClr val="122940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2E5C4"/>
                </a:solidFill>
              </a:defRPr>
            </a:pPr>
            <a:r>
              <a:t>5:00–6:00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16152"/>
            <a:ext cx="10972800" cy="13716"/>
          </a:xfrm>
          <a:prstGeom prst="rect">
            <a:avLst/>
          </a:prstGeom>
          <a:solidFill>
            <a:srgbClr val="32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417320"/>
          <a:ext cx="64008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98079" y="1417320"/>
            <a:ext cx="3794760" cy="109728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700" b="1">
                <a:solidFill>
                  <a:srgbClr val="FFC273"/>
                </a:solidFill>
              </a:defRPr>
            </a:pPr>
            <a:r>
              <a:t>📈  Regression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300">
                <a:solidFill>
                  <a:srgbClr val="ADBFCF"/>
                </a:solidFill>
              </a:defRPr>
            </a:pPr>
            <a:r>
              <a:t>Weekend screen-time estimate MAE ≈ 0.63 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788920"/>
            <a:ext cx="3794760" cy="109728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700" b="1">
                <a:solidFill>
                  <a:srgbClr val="62E5C4"/>
                </a:solidFill>
              </a:defRPr>
            </a:pPr>
            <a:r>
              <a:t>🎚  Calibration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300">
                <a:solidFill>
                  <a:srgbClr val="ADBFCF"/>
                </a:solidFill>
              </a:defRPr>
            </a:pPr>
            <a:r>
              <a:t>Displayed score is calibrated, while final class uses the validated decision policy.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4160520"/>
            <a:ext cx="3794760" cy="109728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700" b="1">
                <a:solidFill>
                  <a:srgbClr val="FF7F96"/>
                </a:solidFill>
              </a:defRPr>
            </a:pPr>
            <a:r>
              <a:t>⚕  Safety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300">
                <a:solidFill>
                  <a:srgbClr val="ADBFCF"/>
                </a:solidFill>
              </a:defRPr>
            </a:pPr>
            <a:r>
              <a:t>Model score is not a medical diagnosis or clinical probability.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758DA4"/>
                </a:solidFill>
              </a:defRPr>
            </a:pPr>
            <a:r>
              <a:t>Digital Wellness Analyzer • 10-minute judge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92811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800" b="1">
                <a:solidFill>
                  <a:srgbClr val="F6FBFF"/>
                </a:solidFill>
              </a:defRPr>
            </a:pPr>
            <a:r>
              <a:t>6. Live demo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692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00" b="0">
                <a:solidFill>
                  <a:srgbClr val="ADBFCF"/>
                </a:solidFill>
              </a:defRPr>
            </a:pPr>
            <a:r>
              <a:t>What judges should see in the web app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84048"/>
            <a:ext cx="1097280" cy="329184"/>
          </a:xfrm>
          <a:prstGeom prst="roundRect">
            <a:avLst/>
          </a:prstGeom>
          <a:solidFill>
            <a:srgbClr val="122940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2E5C4"/>
                </a:solidFill>
              </a:defRPr>
            </a:pPr>
            <a:r>
              <a:t>6:00–7:15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16152"/>
            <a:ext cx="10972800" cy="13716"/>
          </a:xfrm>
          <a:prstGeom prst="rect">
            <a:avLst/>
          </a:prstGeom>
          <a:solidFill>
            <a:srgbClr val="32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411480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defRPr sz="1700" b="1">
                <a:solidFill>
                  <a:srgbClr val="7DA8FF"/>
                </a:solidFill>
              </a:defRPr>
            </a:pPr>
            <a:r>
              <a:t>📝  Step A: Inputs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Screen habits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Lifestyle planning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Exercise days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Study/work details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Mood journal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429000" cy="411480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defRPr sz="1700" b="1">
                <a:solidFill>
                  <a:srgbClr val="62E5C4"/>
                </a:solidFill>
              </a:defRPr>
            </a:pPr>
            <a:r>
              <a:t>📊  Step B: Results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Risk pattern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Balance score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SHAP factors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Percentile bars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Weekend estimate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17320"/>
            <a:ext cx="3429000" cy="411480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defRPr sz="1700" b="1">
                <a:solidFill>
                  <a:srgbClr val="FFC273"/>
                </a:solidFill>
              </a:defRPr>
            </a:pPr>
            <a:r>
              <a:t>🎯  Step C: Action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Friendly coaching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Smart replacement activities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Weekly plan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Focus tools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PDF report</a:t>
            </a:r>
          </a:p>
          <a:p>
            <a:r>
              <a:t>• My Progress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758DA4"/>
                </a:solidFill>
              </a:defRPr>
            </a:pPr>
            <a:r>
              <a:t>Digital Wellness Analyzer • 10-minute judge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92811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800" b="1">
                <a:solidFill>
                  <a:srgbClr val="F6FBFF"/>
                </a:solidFill>
              </a:defRPr>
            </a:pPr>
            <a:r>
              <a:t>7. Recommendation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692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00" b="0">
                <a:solidFill>
                  <a:srgbClr val="ADBFCF"/>
                </a:solidFill>
              </a:defRPr>
            </a:pPr>
            <a:r>
              <a:t>Personalized, practical, and not too robotic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84048"/>
            <a:ext cx="1097280" cy="329184"/>
          </a:xfrm>
          <a:prstGeom prst="roundRect">
            <a:avLst/>
          </a:prstGeom>
          <a:solidFill>
            <a:srgbClr val="122940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2E5C4"/>
                </a:solidFill>
              </a:defRPr>
            </a:pPr>
            <a:r>
              <a:t>7:15–8:15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16152"/>
            <a:ext cx="10972800" cy="13716"/>
          </a:xfrm>
          <a:prstGeom prst="rect">
            <a:avLst/>
          </a:prstGeom>
          <a:solidFill>
            <a:srgbClr val="32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137160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800" b="1">
                <a:solidFill>
                  <a:srgbClr val="FF7F96"/>
                </a:solidFill>
              </a:defRPr>
            </a:pPr>
            <a:r>
              <a:t>❌  Dry recommendation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700">
                <a:solidFill>
                  <a:srgbClr val="ADBFCF"/>
                </a:solidFill>
              </a:defRPr>
            </a:pPr>
            <a:r>
              <a:t>“Reduce your social media use.”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417320"/>
            <a:ext cx="5212080" cy="137160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800" b="1">
                <a:solidFill>
                  <a:srgbClr val="62E5C4"/>
                </a:solidFill>
              </a:defRPr>
            </a:pPr>
            <a:r>
              <a:t>✅  Better coaching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500">
                <a:solidFill>
                  <a:srgbClr val="ADBFCF"/>
                </a:solidFill>
              </a:defRPr>
            </a:pPr>
            <a:r>
              <a:t>“Replace 30 minutes of evening scrolling with a phone-free walk. You can build this gradually.”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3429000" cy="201168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defRPr sz="1700" b="1">
                <a:solidFill>
                  <a:srgbClr val="7DA8FF"/>
                </a:solidFill>
              </a:defRPr>
            </a:pPr>
            <a:r>
              <a:t>👤  Personal inputs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Occupation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Available time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Goal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Reason for scrolling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246120"/>
            <a:ext cx="3429000" cy="201168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defRPr sz="1700" b="1">
                <a:solidFill>
                  <a:srgbClr val="FFC273"/>
                </a:solidFill>
              </a:defRPr>
            </a:pPr>
            <a:r>
              <a:t>📅  Plan inputs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Exercise days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Study/work time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Entertainment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Offline social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3246120"/>
            <a:ext cx="3429000" cy="201168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28016"/>
          <a:lstStyle/>
          <a:p>
            <a:pPr algn="ctr">
              <a:defRPr sz="1700" b="1">
                <a:solidFill>
                  <a:srgbClr val="62E5C4"/>
                </a:solidFill>
              </a:defRPr>
            </a:pPr>
            <a:r>
              <a:t>🌿  Progress inputs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Daily behavior snapshots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7 / 30 / 90-day trends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Mood and focus scores</a:t>
            </a:r>
          </a:p>
          <a:p>
            <a:pPr>
              <a:spcBef>
                <a:spcPts val="500"/>
              </a:spcBef>
              <a:defRPr sz="1200">
                <a:solidFill>
                  <a:srgbClr val="ADBFCF"/>
                </a:solidFill>
              </a:defRPr>
            </a:pPr>
            <a:r>
              <a:t>• Exercise 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758DA4"/>
                </a:solidFill>
              </a:defRPr>
            </a:pPr>
            <a:r>
              <a:t>Digital Wellness Analyzer • 10-minute judge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9281160" cy="38404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2800" b="1">
                <a:solidFill>
                  <a:srgbClr val="F6FBFF"/>
                </a:solidFill>
              </a:defRPr>
            </a:pPr>
            <a:r>
              <a:t>8. Reports, privacy, and product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69264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1200" b="0">
                <a:solidFill>
                  <a:srgbClr val="ADBFCF"/>
                </a:solidFill>
              </a:defRPr>
            </a:pPr>
            <a:r>
              <a:t>Designed as a realistic prototype, not a fake cloud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384048"/>
            <a:ext cx="1097280" cy="329184"/>
          </a:xfrm>
          <a:prstGeom prst="roundRect">
            <a:avLst/>
          </a:prstGeom>
          <a:solidFill>
            <a:srgbClr val="122940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2E5C4"/>
                </a:solidFill>
              </a:defRPr>
            </a:pPr>
            <a:r>
              <a:t>8:15–9:15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16152"/>
            <a:ext cx="10972800" cy="13716"/>
          </a:xfrm>
          <a:prstGeom prst="rect">
            <a:avLst/>
          </a:prstGeom>
          <a:solidFill>
            <a:srgbClr val="3247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429000" cy="356616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800" b="1">
                <a:solidFill>
                  <a:srgbClr val="62E5C4"/>
                </a:solidFill>
              </a:defRPr>
            </a:pPr>
            <a:r>
              <a:t>🔐  Local-first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400">
                <a:solidFill>
                  <a:srgbClr val="ADBFCF"/>
                </a:solidFill>
              </a:defRPr>
            </a:pPr>
            <a:r>
              <a:t>SQLite stores one daily behavior snapshot per profile plus mood check-ins. No cloud AI API is required.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417320"/>
            <a:ext cx="3429000" cy="356616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800" b="1">
                <a:solidFill>
                  <a:srgbClr val="7DA8FF"/>
                </a:solidFill>
              </a:defRPr>
            </a:pPr>
            <a:r>
              <a:t>📄  PDF reports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400">
                <a:solidFill>
                  <a:srgbClr val="ADBFCF"/>
                </a:solidFill>
              </a:defRPr>
            </a:pPr>
            <a:r>
              <a:t>The app generates a report with risk score, factors, charts, recommendations and next check-in.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17320"/>
            <a:ext cx="3429000" cy="356616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800" b="1">
                <a:solidFill>
                  <a:srgbClr val="FFC273"/>
                </a:solidFill>
              </a:defRPr>
            </a:pPr>
            <a:r>
              <a:t>🌗  Theme &amp; UX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400">
                <a:solidFill>
                  <a:srgbClr val="ADBFCF"/>
                </a:solidFill>
              </a:defRPr>
            </a:pPr>
            <a:r>
              <a:t>Day/Night mode, subtle animations, native scrolling and cleaner demo-friendly layout.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758DA4"/>
                </a:solidFill>
              </a:defRPr>
            </a:pPr>
            <a:r>
              <a:t>Digital Wellness Analyzer • 10-minute judge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69848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ctr">
              <a:defRPr sz="3400" b="1">
                <a:solidFill>
                  <a:srgbClr val="F6FBFF"/>
                </a:solidFill>
              </a:defRPr>
            </a:pPr>
            <a:r>
              <a:t>Closing: why this can medal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28800"/>
            <a:ext cx="9966960" cy="205740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2100" b="1">
                <a:solidFill>
                  <a:srgbClr val="62E5C4"/>
                </a:solidFill>
              </a:defRPr>
            </a:pPr>
            <a:r>
              <a:t>🏁  Impact statement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800">
                <a:solidFill>
                  <a:srgbClr val="ADBFCF"/>
                </a:solidFill>
              </a:defRPr>
            </a:pPr>
            <a:r>
              <a:t>Digital Wellness Analyzer turns behavior data into transparent insight and a practical next action. It is not only a model — it is a wellness product prototype.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343400"/>
            <a:ext cx="2971800" cy="114300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700" b="1">
                <a:solidFill>
                  <a:srgbClr val="7DA8FF"/>
                </a:solidFill>
              </a:defRPr>
            </a:pPr>
            <a:r>
              <a:t>🔎  Explainable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200">
                <a:solidFill>
                  <a:srgbClr val="ADBFCF"/>
                </a:solidFill>
              </a:defRPr>
            </a:pPr>
            <a:r>
              <a:t>Users see why.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17720" y="4343400"/>
            <a:ext cx="2971800" cy="114300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700" b="1">
                <a:solidFill>
                  <a:srgbClr val="62E5C4"/>
                </a:solidFill>
              </a:defRPr>
            </a:pPr>
            <a:r>
              <a:t>✅  Actionable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200">
                <a:solidFill>
                  <a:srgbClr val="ADBFCF"/>
                </a:solidFill>
              </a:defRPr>
            </a:pPr>
            <a:r>
              <a:t>Users know what to do next.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4343400"/>
            <a:ext cx="2971800" cy="1143000"/>
          </a:xfrm>
          <a:prstGeom prst="roundRect">
            <a:avLst/>
          </a:prstGeom>
          <a:solidFill>
            <a:srgbClr val="0E1F32"/>
          </a:solidFill>
          <a:ln>
            <a:solidFill>
              <a:srgbClr val="3247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146304" bIns="109728"/>
          <a:lstStyle/>
          <a:p>
            <a:pPr algn="ctr">
              <a:defRPr sz="1700" b="1">
                <a:solidFill>
                  <a:srgbClr val="FFC273"/>
                </a:solidFill>
              </a:defRPr>
            </a:pPr>
            <a:r>
              <a:t>🔐  Responsible</a:t>
            </a:r>
          </a:p>
          <a:p>
            <a:pPr>
              <a:lnSpc>
                <a:spcPct val="108000"/>
              </a:lnSpc>
              <a:spcBef>
                <a:spcPts val="800"/>
              </a:spcBef>
              <a:defRPr sz="1200">
                <a:solidFill>
                  <a:srgbClr val="ADBFCF"/>
                </a:solidFill>
              </a:defRPr>
            </a:pPr>
            <a:r>
              <a:t>No fake medical or cloud claims.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 algn="l">
              <a:defRPr sz="850" b="0">
                <a:solidFill>
                  <a:srgbClr val="758DA4"/>
                </a:solidFill>
              </a:defRPr>
            </a:pPr>
            <a:r>
              <a:t>Digital Wellness Analyzer • 10-minute judge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